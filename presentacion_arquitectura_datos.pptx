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/>
              <a:t>Arquitectura de datos, diagramas de estado y sistemas detectivos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C8C8C8"/>
                </a:solidFill>
              </a:defRPr>
            </a:pPr>
            <a:r>
              <a:rPr/>
              <a:t>Conceptos clave para desarrollo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rPr/>
              <a:t>Alumno de desarrollo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/>
              <a:t>Arquitectura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CDCDC"/>
                </a:solidFill>
              </a:defRPr>
            </a:pPr>
            <a:r>
              <a:rPr/>
              <a:t>• Marco para recopilar, almacenar, transformar, distribuir y usar datos.</a:t>
            </a:r>
          </a:p>
          <a:p>
            <a:pPr>
              <a:defRPr sz="1400">
                <a:solidFill>
                  <a:srgbClr val="DCDCDC"/>
                </a:solidFill>
              </a:defRPr>
            </a:pPr>
            <a:r>
              <a:rPr/>
              <a:t>• Organiza procesos y flujos para alinear la gestión de datos con los objetivos de la empresa.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74720"/>
            <a:ext cx="1645920" cy="731520"/>
          </a:xfrm>
          <a:prstGeom prst="roundRect">
            <a:avLst/>
          </a:prstGeom>
          <a:solidFill>
            <a:srgbClr val="1B436E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/>
              <a:t>Fuentes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03120" y="3566160"/>
            <a:ext cx="640080" cy="548640"/>
          </a:xfrm>
          <a:prstGeom prst="rightArrow">
            <a:avLst/>
          </a:prstGeom>
          <a:solidFill>
            <a:srgbClr val="6495ED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3474720"/>
            <a:ext cx="1645920" cy="731520"/>
          </a:xfrm>
          <a:prstGeom prst="roundRect">
            <a:avLst/>
          </a:prstGeom>
          <a:solidFill>
            <a:srgbClr val="1B436E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/>
              <a:t>Procesos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89120" y="3566160"/>
            <a:ext cx="640080" cy="548640"/>
          </a:xfrm>
          <a:prstGeom prst="rightArrow">
            <a:avLst/>
          </a:prstGeom>
          <a:solidFill>
            <a:srgbClr val="6495ED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0" y="3474720"/>
            <a:ext cx="1645920" cy="731520"/>
          </a:xfrm>
          <a:prstGeom prst="roundRect">
            <a:avLst/>
          </a:prstGeom>
          <a:solidFill>
            <a:srgbClr val="1B436E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/>
              <a:t>Almacenamiento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75120" y="3566160"/>
            <a:ext cx="640080" cy="548640"/>
          </a:xfrm>
          <a:prstGeom prst="rightArrow">
            <a:avLst/>
          </a:prstGeom>
          <a:solidFill>
            <a:srgbClr val="6495ED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3474720"/>
            <a:ext cx="1645920" cy="731520"/>
          </a:xfrm>
          <a:prstGeom prst="roundRect">
            <a:avLst/>
          </a:prstGeom>
          <a:solidFill>
            <a:srgbClr val="1B436E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/>
              <a:t>Uso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/>
              <a:t>Diagramas de estado y transiciones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CDCDC"/>
                </a:solidFill>
              </a:defRPr>
            </a:pPr>
            <a:r>
              <a:rPr/>
              <a:t>• Representan los estados posibles de un sistema y los eventos que provocan transiciones.</a:t>
            </a:r>
          </a:p>
          <a:p>
            <a:pPr>
              <a:defRPr sz="1400">
                <a:solidFill>
                  <a:srgbClr val="DCDCDC"/>
                </a:solidFill>
              </a:defRPr>
            </a:pPr>
            <a:r>
              <a:rPr/>
              <a:t>• Incluyen estados, transiciones y sucesos.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474720"/>
            <a:ext cx="914400" cy="914400"/>
          </a:xfrm>
          <a:prstGeom prst="ellipse">
            <a:avLst/>
          </a:prstGeom>
          <a:solidFill>
            <a:srgbClr val="1B436E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/>
              <a:t>Estado 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11680" y="3657600"/>
            <a:ext cx="731520" cy="457200"/>
          </a:xfrm>
          <a:prstGeom prst="rightArrow">
            <a:avLst/>
          </a:prstGeom>
          <a:solidFill>
            <a:srgbClr val="6495ED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0" y="3474720"/>
            <a:ext cx="914400" cy="914400"/>
          </a:xfrm>
          <a:prstGeom prst="ellipse">
            <a:avLst/>
          </a:prstGeom>
          <a:solidFill>
            <a:srgbClr val="1B436E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/>
              <a:t>Estado 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029200" y="3657600"/>
            <a:ext cx="731520" cy="457200"/>
          </a:xfrm>
          <a:prstGeom prst="rightArrow">
            <a:avLst/>
          </a:prstGeom>
          <a:solidFill>
            <a:srgbClr val="6495ED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0" y="3474720"/>
            <a:ext cx="914400" cy="914400"/>
          </a:xfrm>
          <a:prstGeom prst="ellipse">
            <a:avLst/>
          </a:prstGeom>
          <a:solidFill>
            <a:srgbClr val="1B436E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/>
              <a:t>Estado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/>
              <a:t>Sistemas detectivos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CDCDC"/>
                </a:solidFill>
              </a:defRPr>
            </a:pPr>
            <a:r>
              <a:rPr/>
              <a:t>• Identifican incidentes o anomalías en tiempo real.</a:t>
            </a:r>
          </a:p>
          <a:p>
            <a:pPr>
              <a:defRPr sz="1400">
                <a:solidFill>
                  <a:srgbClr val="DCDCDC"/>
                </a:solidFill>
              </a:defRPr>
            </a:pPr>
            <a:r>
              <a:rPr/>
              <a:t>• Proporcionan visibilidad y permiten una respuesta rápida.</a:t>
            </a:r>
          </a:p>
          <a:p>
            <a:pPr>
              <a:defRPr sz="1400">
                <a:solidFill>
                  <a:srgbClr val="DCDCDC"/>
                </a:solidFill>
              </a:defRPr>
            </a:pPr>
            <a:r>
              <a:rPr/>
              <a:t>• Ejemplos: IDS, SIEM y DLP.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3200400"/>
            <a:ext cx="1828800" cy="914400"/>
          </a:xfrm>
          <a:prstGeom prst="roundRect">
            <a:avLst/>
          </a:prstGeom>
          <a:solidFill>
            <a:srgbClr val="1B436E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/>
              <a:t>Sistema</a:t>
            </a:r>
          </a:p>
          <a:p>
            <a:r>
              <a:rPr/>
              <a:t>Detectivo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1828800" cy="640080"/>
          </a:xfrm>
          <a:prstGeom prst="roundRect">
            <a:avLst/>
          </a:prstGeom>
          <a:solidFill>
            <a:srgbClr val="1B436E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/>
              <a:t>IDS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77440" y="3017520"/>
            <a:ext cx="3931920" cy="274320"/>
          </a:xfrm>
          <a:prstGeom prst="rightArrow">
            <a:avLst/>
          </a:prstGeom>
          <a:solidFill>
            <a:srgbClr val="6495ED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3749039"/>
            <a:ext cx="1828800" cy="640080"/>
          </a:xfrm>
          <a:prstGeom prst="roundRect">
            <a:avLst/>
          </a:prstGeom>
          <a:solidFill>
            <a:srgbClr val="1B436E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/>
              <a:t>SIEM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77440" y="3931920"/>
            <a:ext cx="3931920" cy="274320"/>
          </a:xfrm>
          <a:prstGeom prst="rightArrow">
            <a:avLst/>
          </a:prstGeom>
          <a:solidFill>
            <a:srgbClr val="6495ED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4663440"/>
            <a:ext cx="1828800" cy="640080"/>
          </a:xfrm>
          <a:prstGeom prst="roundRect">
            <a:avLst/>
          </a:prstGeom>
          <a:solidFill>
            <a:srgbClr val="1B436E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/>
              <a:t>DLP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77440" y="4846320"/>
            <a:ext cx="3931920" cy="274320"/>
          </a:xfrm>
          <a:prstGeom prst="rightArrow">
            <a:avLst/>
          </a:prstGeom>
          <a:solidFill>
            <a:srgbClr val="6495ED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