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3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404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3A">
              <a:alpha val="65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UI/UX, Usabilidad</a:t>
            </a:r>
            <a:endParaRPr lang="en-US" sz="44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Heurísticas de Nielsen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fundamentales para el diseño centrado en el usuario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1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UI y UX?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disciplinas complementarias en el diseño digital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657600" cy="5486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19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Interfaz de Usuario</a:t>
            </a:r>
            <a:endParaRPr lang="en-US" sz="1800"/>
          </a:p>
        </p:txBody>
      </p:sp>
      <p:sp>
        <p:nvSpPr>
          <p:cNvPr id="8" name="Text 5"/>
          <p:cNvSpPr/>
          <p:nvPr/>
        </p:nvSpPr>
        <p:spPr>
          <a:xfrm>
            <a:off x="100584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aspecto visual e interactivo del producto.</a:t>
            </a:r>
            <a:endParaRPr lang="en-US" sz="1500"/>
          </a:p>
          <a:p>
            <a:pPr marL="0" indent="0" algn="l">
              <a:buNone/>
            </a:pPr>
            <a:endParaRPr lang="en-US" sz="1500"/>
          </a:p>
          <a:p>
            <a:pPr marL="0" indent="0" algn="l">
              <a:buNone/>
            </a:pPr>
            <a:r>
              <a:rPr lang="en-US" sz="140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tipografía, colores, iconografía, botones, formularios y toda la capa visual con la que interactúa el usuario.</a:t>
            </a:r>
            <a:endParaRPr lang="en-US" sz="1500"/>
          </a:p>
          <a:p>
            <a:pPr marL="0" indent="0" algn="l">
              <a:buNone/>
            </a:pPr>
            <a:endParaRPr lang="en-US" sz="1500"/>
          </a:p>
          <a:p>
            <a:pPr marL="0" indent="0" algn="l">
              <a:buNone/>
            </a:pPr>
            <a:r>
              <a:rPr lang="en-US" sz="1400" b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</a:t>
            </a:r>
            <a:endParaRPr lang="en-US" sz="1500"/>
          </a:p>
          <a:p>
            <a:pPr marL="0" indent="0" algn="l">
              <a:buNone/>
            </a:pPr>
            <a:r>
              <a:rPr lang="en-US" sz="1400" i="1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ve bien y es intuitivo?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4754880" y="16459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190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— Experiencia de Usuario</a:t>
            </a:r>
            <a:endParaRPr lang="en-US" sz="1800"/>
          </a:p>
        </p:txBody>
      </p:sp>
      <p:sp>
        <p:nvSpPr>
          <p:cNvPr id="13" name="Text 9"/>
          <p:cNvSpPr/>
          <p:nvPr/>
        </p:nvSpPr>
        <p:spPr>
          <a:xfrm>
            <a:off x="5029200" y="23774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completa al usar un producto.</a:t>
            </a:r>
            <a:endParaRPr lang="en-US" sz="1500"/>
          </a:p>
          <a:p>
            <a:pPr marL="0" indent="0" algn="l">
              <a:buNone/>
            </a:pPr>
            <a:endParaRPr lang="en-US" sz="1500"/>
          </a:p>
          <a:p>
            <a:pPr marL="0" indent="0" algn="l">
              <a:buNone/>
            </a:pPr>
            <a:r>
              <a:rPr lang="en-US" sz="140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Abarca investigación de usuarios, arquitectura de información, flujos de interacción y pruebas de usabilidad.</a:t>
            </a:r>
            <a:endParaRPr lang="en-US" sz="1500"/>
          </a:p>
          <a:p>
            <a:pPr marL="0" indent="0" algn="l">
              <a:buNone/>
            </a:pPr>
            <a:endParaRPr lang="en-US" sz="1500"/>
          </a:p>
          <a:p>
            <a:pPr marL="0" indent="0" algn="l">
              <a:buNone/>
            </a:pPr>
            <a:r>
              <a:rPr lang="en-US" sz="1400" b="1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clave:</a:t>
            </a:r>
            <a:endParaRPr lang="en-US" sz="1500"/>
          </a:p>
          <a:p>
            <a:pPr marL="0" indent="0" algn="l">
              <a:buNone/>
            </a:pPr>
            <a:r>
              <a:rPr lang="en-US" sz="1400" i="1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fácil, útil y agradable?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minimalist-flat-illustration-showing-the-concept-o_2026-05-05T19-43-46_image_DAS_0.jpg"/>
          <p:cNvPicPr>
            <a:picLocks noChangeAspect="1"/>
          </p:cNvPicPr>
          <p:nvPr/>
        </p:nvPicPr>
        <p:blipFill>
          <a:blip r:embed="rId3"/>
          <a:srcRect l="16635" r="16635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1B3A">
              <a:alpha val="80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731520" y="3657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>
                <a:solidFill>
                  <a:srgbClr val="1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Usabilidad</a:t>
            </a:r>
            <a:endParaRPr lang="en-US" sz="4000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medida de la calidad de la experiencia</a:t>
            </a:r>
            <a:endParaRPr lang="en-US" sz="15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2763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Facilidad para completar tareas la primera vez</a:t>
            </a:r>
            <a:endParaRPr lang="en-US" sz="160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8600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22128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Rapidez tras dominar el diseño</a:t>
            </a:r>
            <a:endParaRPr lang="en-US" sz="16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44368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8712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Memorabilidad</a:t>
            </a: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Facilidad al retomar tras inactividad</a:t>
            </a:r>
            <a:endParaRPr lang="en-US" sz="160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02736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7280" y="352958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Cantidad y gravedad de los errores</a:t>
            </a:r>
            <a:endParaRPr lang="en-US" sz="160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61104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7280" y="4187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Qué tan agradable es usar el diseño</a:t>
            </a:r>
            <a:endParaRPr 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Jakob Nielsen</a:t>
            </a:r>
            <a:endParaRPr lang="en-US" sz="420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de la usabilidad web</a:t>
            </a:r>
            <a:endParaRPr lang="en-US" sz="180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286000" cy="2377440"/>
          </a:xfrm>
          <a:prstGeom prst="rect">
            <a:avLst/>
          </a:prstGeom>
          <a:solidFill>
            <a:srgbClr val="36367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286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Cofundador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86868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Norman Group, referencia mundial en UX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3383280" y="2011680"/>
            <a:ext cx="2286000" cy="2377440"/>
          </a:xfrm>
          <a:prstGeom prst="rect">
            <a:avLst/>
          </a:prstGeom>
          <a:solidFill>
            <a:srgbClr val="36367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28600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Heurísticas</a:t>
            </a:r>
            <a:endParaRPr lang="en-US" sz="1800"/>
          </a:p>
        </p:txBody>
      </p:sp>
      <p:sp>
        <p:nvSpPr>
          <p:cNvPr id="11" name="Text 7"/>
          <p:cNvSpPr/>
          <p:nvPr/>
        </p:nvSpPr>
        <p:spPr>
          <a:xfrm>
            <a:off x="352044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Publicadas en 1994, siguen siendo estándar</a:t>
            </a:r>
            <a:endParaRPr lang="en-US" sz="1300"/>
          </a:p>
        </p:txBody>
      </p:sp>
      <p:sp>
        <p:nvSpPr>
          <p:cNvPr id="12" name="Shape 8"/>
          <p:cNvSpPr/>
          <p:nvPr/>
        </p:nvSpPr>
        <p:spPr>
          <a:xfrm>
            <a:off x="6035040" y="2011680"/>
            <a:ext cx="2286000" cy="2377440"/>
          </a:xfrm>
          <a:prstGeom prst="rect">
            <a:avLst/>
          </a:prstGeom>
          <a:solidFill>
            <a:srgbClr val="36367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28600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</a:t>
            </a:r>
            <a:endParaRPr lang="en-US" sz="1800"/>
          </a:p>
        </p:txBody>
      </p:sp>
      <p:sp>
        <p:nvSpPr>
          <p:cNvPr id="15" name="Text 10"/>
          <p:cNvSpPr/>
          <p:nvPr/>
        </p:nvSpPr>
        <p:spPr>
          <a:xfrm>
            <a:off x="6172200" y="3566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inspección rápido y efectivo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Heurísticas 1 — 5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005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del estado del sistema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1828800" y="1325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debe mantener informado al usuario sobre lo que está pasando, con retroalimentación oportuna.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731520" y="18105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85623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8105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 sistema — mundo real</a:t>
            </a:r>
            <a:endParaRPr lang="en-US" sz="1600"/>
          </a:p>
        </p:txBody>
      </p:sp>
      <p:sp>
        <p:nvSpPr>
          <p:cNvPr id="10" name="Text 6"/>
          <p:cNvSpPr/>
          <p:nvPr/>
        </p:nvSpPr>
        <p:spPr>
          <a:xfrm>
            <a:off x="1828800" y="21305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lenguaje y conceptos familiares para el usuario, siguiendo convenciones del mundo real.</a:t>
            </a:r>
            <a:endParaRPr lang="en-US" sz="1300"/>
          </a:p>
        </p:txBody>
      </p:sp>
      <p:sp>
        <p:nvSpPr>
          <p:cNvPr id="11" name="Text 7"/>
          <p:cNvSpPr/>
          <p:nvPr/>
        </p:nvSpPr>
        <p:spPr>
          <a:xfrm>
            <a:off x="731520" y="26151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66090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26151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libertad del usuario</a:t>
            </a:r>
            <a:endParaRPr lang="en-US" sz="1600"/>
          </a:p>
        </p:txBody>
      </p:sp>
      <p:sp>
        <p:nvSpPr>
          <p:cNvPr id="14" name="Text 9"/>
          <p:cNvSpPr/>
          <p:nvPr/>
        </p:nvSpPr>
        <p:spPr>
          <a:xfrm>
            <a:off x="1828800" y="293522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necesitan una "salida de emergencia" clara para deshacer acciones no deseadas.</a:t>
            </a:r>
            <a:endParaRPr lang="en-US" sz="1300"/>
          </a:p>
        </p:txBody>
      </p:sp>
      <p:sp>
        <p:nvSpPr>
          <p:cNvPr id="15" name="Text 10"/>
          <p:cNvSpPr/>
          <p:nvPr/>
        </p:nvSpPr>
        <p:spPr>
          <a:xfrm>
            <a:off x="731520" y="34198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465576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28800" y="34198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y estándares</a:t>
            </a:r>
            <a:endParaRPr lang="en-US" sz="1600"/>
          </a:p>
        </p:txBody>
      </p:sp>
      <p:sp>
        <p:nvSpPr>
          <p:cNvPr id="18" name="Text 12"/>
          <p:cNvSpPr/>
          <p:nvPr/>
        </p:nvSpPr>
        <p:spPr>
          <a:xfrm>
            <a:off x="1828800" y="373989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no deberían preguntarse si distintas palabras o acciones significan lo mismo.</a:t>
            </a:r>
            <a:endParaRPr lang="en-US" sz="1300"/>
          </a:p>
        </p:txBody>
      </p:sp>
      <p:sp>
        <p:nvSpPr>
          <p:cNvPr id="19" name="Text 13"/>
          <p:cNvSpPr/>
          <p:nvPr/>
        </p:nvSpPr>
        <p:spPr>
          <a:xfrm>
            <a:off x="731520" y="42245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427024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28800" y="4224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errores</a:t>
            </a:r>
            <a:endParaRPr lang="en-US" sz="1600"/>
          </a:p>
        </p:txBody>
      </p:sp>
      <p:sp>
        <p:nvSpPr>
          <p:cNvPr id="22" name="Text 15"/>
          <p:cNvSpPr/>
          <p:nvPr/>
        </p:nvSpPr>
        <p:spPr>
          <a:xfrm>
            <a:off x="1828800" y="45445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que buenos mensajes de error es un diseño que prevenga que los problemas ocurran.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Heurísticas 6 — 10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005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sobre recuerdo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1828800" y="1325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la carga de memoria del usuario haciendo visibles objetos, acciones y opciones.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731520" y="18105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85623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0" y="18105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y eficiencia de uso</a:t>
            </a:r>
            <a:endParaRPr lang="en-US" sz="1600"/>
          </a:p>
        </p:txBody>
      </p:sp>
      <p:sp>
        <p:nvSpPr>
          <p:cNvPr id="10" name="Text 6"/>
          <p:cNvSpPr/>
          <p:nvPr/>
        </p:nvSpPr>
        <p:spPr>
          <a:xfrm>
            <a:off x="1828800" y="21305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Aceleradores para usuarios expertos sin afectar a los novatos. Permitir personalización.</a:t>
            </a:r>
            <a:endParaRPr lang="en-US" sz="1300"/>
          </a:p>
        </p:txBody>
      </p:sp>
      <p:sp>
        <p:nvSpPr>
          <p:cNvPr id="11" name="Text 7"/>
          <p:cNvSpPr/>
          <p:nvPr/>
        </p:nvSpPr>
        <p:spPr>
          <a:xfrm>
            <a:off x="731520" y="26151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266090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28800" y="261518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estético y minimalista</a:t>
            </a:r>
            <a:endParaRPr lang="en-US" sz="1600"/>
          </a:p>
        </p:txBody>
      </p:sp>
      <p:sp>
        <p:nvSpPr>
          <p:cNvPr id="14" name="Text 9"/>
          <p:cNvSpPr/>
          <p:nvPr/>
        </p:nvSpPr>
        <p:spPr>
          <a:xfrm>
            <a:off x="1828800" y="293522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incluir información irrelevante. Cada unidad extra compite con las relevantes.</a:t>
            </a:r>
            <a:endParaRPr lang="en-US" sz="1300"/>
          </a:p>
        </p:txBody>
      </p:sp>
      <p:sp>
        <p:nvSpPr>
          <p:cNvPr id="15" name="Text 10"/>
          <p:cNvSpPr/>
          <p:nvPr/>
        </p:nvSpPr>
        <p:spPr>
          <a:xfrm>
            <a:off x="731520" y="341985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3465576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28800" y="341985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y recuperarse de errores</a:t>
            </a:r>
            <a:endParaRPr lang="en-US" sz="1600"/>
          </a:p>
        </p:txBody>
      </p:sp>
      <p:sp>
        <p:nvSpPr>
          <p:cNvPr id="18" name="Text 12"/>
          <p:cNvSpPr/>
          <p:nvPr/>
        </p:nvSpPr>
        <p:spPr>
          <a:xfrm>
            <a:off x="1828800" y="373989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error en lenguaje claro, indicando el problema y sugiriendo solución.</a:t>
            </a:r>
            <a:endParaRPr lang="en-US" sz="1300"/>
          </a:p>
        </p:txBody>
      </p:sp>
      <p:sp>
        <p:nvSpPr>
          <p:cNvPr id="19" name="Text 13"/>
          <p:cNvSpPr/>
          <p:nvPr/>
        </p:nvSpPr>
        <p:spPr>
          <a:xfrm>
            <a:off x="731520" y="42245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rgbClr val="A29B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" y="4270248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28800" y="42245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y documentación</a:t>
            </a:r>
            <a:endParaRPr lang="en-US" sz="1600"/>
          </a:p>
        </p:txBody>
      </p:sp>
      <p:sp>
        <p:nvSpPr>
          <p:cNvPr id="22" name="Text 15"/>
          <p:cNvSpPr/>
          <p:nvPr/>
        </p:nvSpPr>
        <p:spPr>
          <a:xfrm>
            <a:off x="1828800" y="454456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lo ideal es un sistema sin documentación, puede ser necesario ofrecer ayuda contextual.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clean-modern-illustration-of-a-magnifying-glass-ex_2026-05-05T19-43-46_image_DAS_0.jpg"/>
          <p:cNvPicPr>
            <a:picLocks noChangeAspect="1"/>
          </p:cNvPicPr>
          <p:nvPr/>
        </p:nvPicPr>
        <p:blipFill>
          <a:blip r:embed="rId3"/>
          <a:srcRect l="28831" r="28831"/>
          <a:stretch/>
        </p:blipFill>
        <p:spPr>
          <a:xfrm>
            <a:off x="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1B3A">
              <a:alpha val="70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4" name="Text 1"/>
          <p:cNvSpPr/>
          <p:nvPr/>
        </p:nvSpPr>
        <p:spPr>
          <a:xfrm>
            <a:off x="4206240" y="365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</a:t>
            </a:r>
            <a:endParaRPr lang="en-US" sz="36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Heurística</a:t>
            </a:r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42062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inspección de usabilidad</a:t>
            </a:r>
            <a:endParaRPr lang="en-US" sz="1500"/>
          </a:p>
        </p:txBody>
      </p:sp>
      <p:sp>
        <p:nvSpPr>
          <p:cNvPr id="6" name="Shape 3"/>
          <p:cNvSpPr/>
          <p:nvPr/>
        </p:nvSpPr>
        <p:spPr>
          <a:xfrm>
            <a:off x="4206240" y="201168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7" name="Text 4"/>
          <p:cNvSpPr/>
          <p:nvPr/>
        </p:nvSpPr>
        <p:spPr>
          <a:xfrm>
            <a:off x="42062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4754880" y="2011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alcance y las tareas a evaluar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4206240" y="2578608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420624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4754880" y="2578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3-5 evaluadores independientes</a:t>
            </a:r>
            <a:endParaRPr lang="en-US" sz="1500"/>
          </a:p>
        </p:txBody>
      </p:sp>
      <p:sp>
        <p:nvSpPr>
          <p:cNvPr id="12" name="Shape 9"/>
          <p:cNvSpPr/>
          <p:nvPr/>
        </p:nvSpPr>
        <p:spPr>
          <a:xfrm>
            <a:off x="4206240" y="3145536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3" name="Text 10"/>
          <p:cNvSpPr/>
          <p:nvPr/>
        </p:nvSpPr>
        <p:spPr>
          <a:xfrm>
            <a:off x="420624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4" name="Text 11"/>
          <p:cNvSpPr/>
          <p:nvPr/>
        </p:nvSpPr>
        <p:spPr>
          <a:xfrm>
            <a:off x="4754880" y="314553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evaluador inspecciona usando las 10 heurísticas</a:t>
            </a:r>
            <a:endParaRPr lang="en-US" sz="1500"/>
          </a:p>
        </p:txBody>
      </p:sp>
      <p:sp>
        <p:nvSpPr>
          <p:cNvPr id="15" name="Shape 12"/>
          <p:cNvSpPr/>
          <p:nvPr/>
        </p:nvSpPr>
        <p:spPr>
          <a:xfrm>
            <a:off x="4206240" y="3712464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6" name="Text 13"/>
          <p:cNvSpPr/>
          <p:nvPr/>
        </p:nvSpPr>
        <p:spPr>
          <a:xfrm>
            <a:off x="420624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4754880" y="3712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problemas con severidad (0-4)</a:t>
            </a:r>
            <a:endParaRPr lang="en-US" sz="1500"/>
          </a:p>
        </p:txBody>
      </p:sp>
      <p:sp>
        <p:nvSpPr>
          <p:cNvPr id="18" name="Shape 15"/>
          <p:cNvSpPr/>
          <p:nvPr/>
        </p:nvSpPr>
        <p:spPr>
          <a:xfrm>
            <a:off x="4206240" y="4279392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9" name="Text 16"/>
          <p:cNvSpPr/>
          <p:nvPr/>
        </p:nvSpPr>
        <p:spPr>
          <a:xfrm>
            <a:off x="420624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4754880" y="42793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hallazgos y priorizar correcciones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vs UX en la Práctica</a:t>
            </a:r>
            <a:endParaRPr lang="en-US" sz="36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549973"/>
              </p:ext>
            </p:extLst>
          </p:nvPr>
        </p:nvGraphicFramePr>
        <p:xfrm>
          <a:off x="731520" y="1280160"/>
          <a:ext cx="76809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(Interfaz)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(Experiencia)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 visual y estético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 global del usuario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Figma, Sketch, Adobe XD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Entrevistas, wireframes, tests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clave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ve?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siente?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atractivo y coherente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útil y satisfactorio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272752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Text 2"/>
          <p:cNvSpPr/>
          <p:nvPr/>
        </p:nvSpPr>
        <p:spPr>
          <a:xfrm>
            <a:off x="100584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</a:t>
            </a:r>
            <a:r>
              <a:rPr lang="en-US" sz="15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producto digital requiere tanto una UI atractiva como una UX bien pensada. La UI sin UX es un cascarón bonito; la UX sin UI es funcional pero poco atractiva.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4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463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y UX son complementarios — juntos crean productos digitales exitosos.</a:t>
            </a:r>
            <a:endParaRPr lang="en-US" sz="17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312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2057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usabilidad es medible y mejorable con métodos sistemáticos.</a:t>
            </a:r>
            <a:endParaRPr lang="en-US" sz="17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651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heurísticas de Nielsen son una guía práctica y atemporal para evaluar interfaces.</a:t>
            </a:r>
            <a:endParaRPr lang="en-US" sz="170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9184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3246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heurística es un método económico para detectar problemas de usabilidad tempranamente.</a:t>
            </a:r>
            <a:endParaRPr lang="en-US" sz="170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8720" y="3840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>
                <a:solidFill>
                  <a:srgbClr val="D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centrado en el usuario no es un lujo, es una necesidad competitiva.</a:t>
            </a:r>
            <a:endParaRPr lang="en-US" sz="1700"/>
          </a:p>
        </p:txBody>
      </p:sp>
      <p:sp>
        <p:nvSpPr>
          <p:cNvPr id="13" name="Shape 6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4" name="Text 7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UI/UX, Usabilidad y Heurísticas de Nielsen — Clase Académica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635</Words>
  <Application>Microsoft Office PowerPoint</Application>
  <PresentationFormat>Presentación en pantalla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Yansi Hernandez</dc:creator>
  <cp:lastModifiedBy>Yansi Hernandez</cp:lastModifiedBy>
  <cp:revision>1</cp:revision>
  <dcterms:created xsi:type="dcterms:W3CDTF">2026-05-05T19:50:38Z</dcterms:created>
  <dcterms:modified xsi:type="dcterms:W3CDTF">2026-05-05T19:56:16Z</dcterms:modified>
</cp:coreProperties>
</file>