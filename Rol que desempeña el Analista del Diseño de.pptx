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8A0BD-3A88-4D1B-BCC6-5CA3AEC5AD03}" v="53" dt="2026-02-22T22:28:48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661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9950BC-29C4-4698-935C-D154F13672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0F12FF-C604-45DD-9F4A-867EF6E7A701}">
      <dgm:prSet custT="1"/>
      <dgm:spPr/>
      <dgm:t>
        <a:bodyPr/>
        <a:lstStyle/>
        <a:p>
          <a:r>
            <a:rPr lang="es-ES" sz="3600" b="1" dirty="0">
              <a:solidFill>
                <a:srgbClr val="FF0000"/>
              </a:solidFill>
            </a:rPr>
            <a:t>Investigar y analizar</a:t>
          </a:r>
          <a:endParaRPr lang="en-US" sz="3600" dirty="0">
            <a:solidFill>
              <a:srgbClr val="FF0000"/>
            </a:solidFill>
          </a:endParaRPr>
        </a:p>
      </dgm:t>
    </dgm:pt>
    <dgm:pt modelId="{DAC70B50-C834-4044-8DF3-7BC354E9097A}" type="parTrans" cxnId="{DDFCD753-D0EA-4764-A9E4-0384AA3EFE96}">
      <dgm:prSet/>
      <dgm:spPr/>
      <dgm:t>
        <a:bodyPr/>
        <a:lstStyle/>
        <a:p>
          <a:endParaRPr lang="en-US"/>
        </a:p>
      </dgm:t>
    </dgm:pt>
    <dgm:pt modelId="{641E248F-5A11-4282-987F-E847B8399E61}" type="sibTrans" cxnId="{DDFCD753-D0EA-4764-A9E4-0384AA3EFE96}">
      <dgm:prSet/>
      <dgm:spPr/>
      <dgm:t>
        <a:bodyPr/>
        <a:lstStyle/>
        <a:p>
          <a:endParaRPr lang="en-US"/>
        </a:p>
      </dgm:t>
    </dgm:pt>
    <dgm:pt modelId="{5653BAD9-C6A7-409C-A4E7-86B460261506}">
      <dgm:prSet/>
      <dgm:spPr/>
      <dgm:t>
        <a:bodyPr/>
        <a:lstStyle/>
        <a:p>
          <a:r>
            <a:rPr lang="es-ES"/>
            <a:t>Identifica problemas en el sistema actual.</a:t>
          </a:r>
          <a:endParaRPr lang="en-US"/>
        </a:p>
      </dgm:t>
    </dgm:pt>
    <dgm:pt modelId="{78E3AABB-B242-4905-8BFF-25F4C04546B4}" type="parTrans" cxnId="{6A961D16-B287-4649-95A6-BA6244EB8862}">
      <dgm:prSet/>
      <dgm:spPr/>
      <dgm:t>
        <a:bodyPr/>
        <a:lstStyle/>
        <a:p>
          <a:endParaRPr lang="en-US"/>
        </a:p>
      </dgm:t>
    </dgm:pt>
    <dgm:pt modelId="{ECAB37DA-5181-4D68-BAD1-F32154402585}" type="sibTrans" cxnId="{6A961D16-B287-4649-95A6-BA6244EB8862}">
      <dgm:prSet/>
      <dgm:spPr/>
      <dgm:t>
        <a:bodyPr/>
        <a:lstStyle/>
        <a:p>
          <a:endParaRPr lang="en-US"/>
        </a:p>
      </dgm:t>
    </dgm:pt>
    <dgm:pt modelId="{C1D592B9-02CB-494E-8F5F-703CF0878437}">
      <dgm:prSet/>
      <dgm:spPr/>
      <dgm:t>
        <a:bodyPr/>
        <a:lstStyle/>
        <a:p>
          <a:r>
            <a:rPr lang="es-ES"/>
            <a:t>Recopila información mediante entrevistas, encuestas y observación.</a:t>
          </a:r>
          <a:endParaRPr lang="en-US"/>
        </a:p>
      </dgm:t>
    </dgm:pt>
    <dgm:pt modelId="{B6715991-E33B-40FD-B206-6E843800AEDA}" type="parTrans" cxnId="{B6D7A0F4-AFFC-4DE8-9390-562473FA00FC}">
      <dgm:prSet/>
      <dgm:spPr/>
      <dgm:t>
        <a:bodyPr/>
        <a:lstStyle/>
        <a:p>
          <a:endParaRPr lang="en-US"/>
        </a:p>
      </dgm:t>
    </dgm:pt>
    <dgm:pt modelId="{8B1C8F3B-AD28-4FC4-BB05-69D15B7613A5}" type="sibTrans" cxnId="{B6D7A0F4-AFFC-4DE8-9390-562473FA00FC}">
      <dgm:prSet/>
      <dgm:spPr/>
      <dgm:t>
        <a:bodyPr/>
        <a:lstStyle/>
        <a:p>
          <a:endParaRPr lang="en-US"/>
        </a:p>
      </dgm:t>
    </dgm:pt>
    <dgm:pt modelId="{9372CC6C-4BB4-4319-94D7-1706F19772AE}">
      <dgm:prSet/>
      <dgm:spPr/>
      <dgm:t>
        <a:bodyPr/>
        <a:lstStyle/>
        <a:p>
          <a:r>
            <a:rPr lang="es-ES"/>
            <a:t>Define los requisitos del sistema.</a:t>
          </a:r>
          <a:endParaRPr lang="en-US"/>
        </a:p>
      </dgm:t>
    </dgm:pt>
    <dgm:pt modelId="{0342E0E6-6101-42D3-847D-46B3302521A6}" type="parTrans" cxnId="{31E0343D-5B67-4C23-8ACC-D17C75BF9E92}">
      <dgm:prSet/>
      <dgm:spPr/>
      <dgm:t>
        <a:bodyPr/>
        <a:lstStyle/>
        <a:p>
          <a:endParaRPr lang="en-US"/>
        </a:p>
      </dgm:t>
    </dgm:pt>
    <dgm:pt modelId="{254D77A4-D5E0-4056-B526-E245A2A3920D}" type="sibTrans" cxnId="{31E0343D-5B67-4C23-8ACC-D17C75BF9E92}">
      <dgm:prSet/>
      <dgm:spPr/>
      <dgm:t>
        <a:bodyPr/>
        <a:lstStyle/>
        <a:p>
          <a:endParaRPr lang="en-US"/>
        </a:p>
      </dgm:t>
    </dgm:pt>
    <dgm:pt modelId="{8767190B-D297-4138-924C-5DE1E7291CAF}">
      <dgm:prSet/>
      <dgm:spPr/>
      <dgm:t>
        <a:bodyPr/>
        <a:lstStyle/>
        <a:p>
          <a:r>
            <a:rPr lang="es-ES"/>
            <a:t>Evalúa la viabilidad del proyecto (técnica y económica). </a:t>
          </a:r>
          <a:endParaRPr lang="en-US"/>
        </a:p>
      </dgm:t>
    </dgm:pt>
    <dgm:pt modelId="{B7FC5874-CA10-4692-BBCE-F59FC17A6799}" type="parTrans" cxnId="{E36A54EA-E1F3-4788-8ADD-6683DB40F138}">
      <dgm:prSet/>
      <dgm:spPr/>
      <dgm:t>
        <a:bodyPr/>
        <a:lstStyle/>
        <a:p>
          <a:endParaRPr lang="en-US"/>
        </a:p>
      </dgm:t>
    </dgm:pt>
    <dgm:pt modelId="{8CE3EFBE-1DFC-4857-8B79-AFD6409C6BE2}" type="sibTrans" cxnId="{E36A54EA-E1F3-4788-8ADD-6683DB40F138}">
      <dgm:prSet/>
      <dgm:spPr/>
      <dgm:t>
        <a:bodyPr/>
        <a:lstStyle/>
        <a:p>
          <a:endParaRPr lang="en-US"/>
        </a:p>
      </dgm:t>
    </dgm:pt>
    <dgm:pt modelId="{3C7A666D-F2F7-4184-8CC3-DD92CEB1828B}">
      <dgm:prSet/>
      <dgm:spPr/>
      <dgm:t>
        <a:bodyPr/>
        <a:lstStyle/>
        <a:p>
          <a:r>
            <a:rPr lang="es-ES" dirty="0"/>
            <a:t>Se asegura de entender </a:t>
          </a:r>
          <a:r>
            <a:rPr lang="es-ES" b="1" dirty="0">
              <a:solidFill>
                <a:schemeClr val="tx1">
                  <a:lumMod val="75000"/>
                  <a:lumOff val="25000"/>
                </a:schemeClr>
              </a:solidFill>
            </a:rPr>
            <a:t>qué necesita el usuario</a:t>
          </a:r>
          <a:r>
            <a:rPr lang="es-ES" dirty="0">
              <a:solidFill>
                <a:schemeClr val="tx1">
                  <a:lumMod val="75000"/>
                  <a:lumOff val="25000"/>
                </a:schemeClr>
              </a:solidFill>
            </a:rPr>
            <a:t>.</a:t>
          </a:r>
          <a:endParaRPr lang="en-US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4FEE5AAD-A564-440E-9B7E-06B42FEA4F0E}" type="parTrans" cxnId="{7652C247-EF73-41FF-BD57-6B8E38BA2FA9}">
      <dgm:prSet/>
      <dgm:spPr/>
      <dgm:t>
        <a:bodyPr/>
        <a:lstStyle/>
        <a:p>
          <a:endParaRPr lang="en-US"/>
        </a:p>
      </dgm:t>
    </dgm:pt>
    <dgm:pt modelId="{1F86F619-481E-4EAA-B8BE-E3238865B642}" type="sibTrans" cxnId="{7652C247-EF73-41FF-BD57-6B8E38BA2FA9}">
      <dgm:prSet/>
      <dgm:spPr/>
      <dgm:t>
        <a:bodyPr/>
        <a:lstStyle/>
        <a:p>
          <a:endParaRPr lang="en-US"/>
        </a:p>
      </dgm:t>
    </dgm:pt>
    <dgm:pt modelId="{E2B31A62-C302-47AA-B00A-5ED6E1C07478}" type="pres">
      <dgm:prSet presAssocID="{4D9950BC-29C4-4698-935C-D154F136723C}" presName="vert0" presStyleCnt="0">
        <dgm:presLayoutVars>
          <dgm:dir/>
          <dgm:animOne val="branch"/>
          <dgm:animLvl val="lvl"/>
        </dgm:presLayoutVars>
      </dgm:prSet>
      <dgm:spPr/>
    </dgm:pt>
    <dgm:pt modelId="{15AC5178-B47B-4153-A12A-67A4F1BA2624}" type="pres">
      <dgm:prSet presAssocID="{B40F12FF-C604-45DD-9F4A-867EF6E7A701}" presName="thickLine" presStyleLbl="alignNode1" presStyleIdx="0" presStyleCnt="6"/>
      <dgm:spPr/>
    </dgm:pt>
    <dgm:pt modelId="{6EF702DA-5C39-4A48-BE26-029EF0700667}" type="pres">
      <dgm:prSet presAssocID="{B40F12FF-C604-45DD-9F4A-867EF6E7A701}" presName="horz1" presStyleCnt="0"/>
      <dgm:spPr/>
    </dgm:pt>
    <dgm:pt modelId="{EB72BB32-14B7-4395-BC8A-BB97C150C9B0}" type="pres">
      <dgm:prSet presAssocID="{B40F12FF-C604-45DD-9F4A-867EF6E7A701}" presName="tx1" presStyleLbl="revTx" presStyleIdx="0" presStyleCnt="6"/>
      <dgm:spPr/>
    </dgm:pt>
    <dgm:pt modelId="{CF03A588-6E01-47D6-866B-47CB3B64E9E1}" type="pres">
      <dgm:prSet presAssocID="{B40F12FF-C604-45DD-9F4A-867EF6E7A701}" presName="vert1" presStyleCnt="0"/>
      <dgm:spPr/>
    </dgm:pt>
    <dgm:pt modelId="{5068E69E-781A-4347-8AF8-7C0C3CF7C0CD}" type="pres">
      <dgm:prSet presAssocID="{5653BAD9-C6A7-409C-A4E7-86B460261506}" presName="thickLine" presStyleLbl="alignNode1" presStyleIdx="1" presStyleCnt="6"/>
      <dgm:spPr/>
    </dgm:pt>
    <dgm:pt modelId="{0133404E-4464-44E1-9359-FA2FA110999A}" type="pres">
      <dgm:prSet presAssocID="{5653BAD9-C6A7-409C-A4E7-86B460261506}" presName="horz1" presStyleCnt="0"/>
      <dgm:spPr/>
    </dgm:pt>
    <dgm:pt modelId="{2048B345-CAB1-4199-B877-C38E4CD595CD}" type="pres">
      <dgm:prSet presAssocID="{5653BAD9-C6A7-409C-A4E7-86B460261506}" presName="tx1" presStyleLbl="revTx" presStyleIdx="1" presStyleCnt="6"/>
      <dgm:spPr/>
    </dgm:pt>
    <dgm:pt modelId="{760D078E-C83B-4AA0-AEB4-8D17A7401667}" type="pres">
      <dgm:prSet presAssocID="{5653BAD9-C6A7-409C-A4E7-86B460261506}" presName="vert1" presStyleCnt="0"/>
      <dgm:spPr/>
    </dgm:pt>
    <dgm:pt modelId="{6A184A3D-06FE-4B69-AE14-959F95AFC180}" type="pres">
      <dgm:prSet presAssocID="{C1D592B9-02CB-494E-8F5F-703CF0878437}" presName="thickLine" presStyleLbl="alignNode1" presStyleIdx="2" presStyleCnt="6"/>
      <dgm:spPr/>
    </dgm:pt>
    <dgm:pt modelId="{3819BC57-811C-48FD-BE3C-325AEDAECAA4}" type="pres">
      <dgm:prSet presAssocID="{C1D592B9-02CB-494E-8F5F-703CF0878437}" presName="horz1" presStyleCnt="0"/>
      <dgm:spPr/>
    </dgm:pt>
    <dgm:pt modelId="{C7F630F3-EA0D-4435-8054-9541B3D355C9}" type="pres">
      <dgm:prSet presAssocID="{C1D592B9-02CB-494E-8F5F-703CF0878437}" presName="tx1" presStyleLbl="revTx" presStyleIdx="2" presStyleCnt="6"/>
      <dgm:spPr/>
    </dgm:pt>
    <dgm:pt modelId="{600FC066-3AB3-4251-95A8-0A2A4A9AB63C}" type="pres">
      <dgm:prSet presAssocID="{C1D592B9-02CB-494E-8F5F-703CF0878437}" presName="vert1" presStyleCnt="0"/>
      <dgm:spPr/>
    </dgm:pt>
    <dgm:pt modelId="{61D9590A-343E-44AD-931F-546A04EE1F78}" type="pres">
      <dgm:prSet presAssocID="{9372CC6C-4BB4-4319-94D7-1706F19772AE}" presName="thickLine" presStyleLbl="alignNode1" presStyleIdx="3" presStyleCnt="6"/>
      <dgm:spPr/>
    </dgm:pt>
    <dgm:pt modelId="{B89A8262-BE15-4C93-8E5C-B7082BEB0208}" type="pres">
      <dgm:prSet presAssocID="{9372CC6C-4BB4-4319-94D7-1706F19772AE}" presName="horz1" presStyleCnt="0"/>
      <dgm:spPr/>
    </dgm:pt>
    <dgm:pt modelId="{88C0D890-62CF-440A-B331-BA8D647BC83E}" type="pres">
      <dgm:prSet presAssocID="{9372CC6C-4BB4-4319-94D7-1706F19772AE}" presName="tx1" presStyleLbl="revTx" presStyleIdx="3" presStyleCnt="6"/>
      <dgm:spPr/>
    </dgm:pt>
    <dgm:pt modelId="{CCA431CF-5693-4EA8-BE47-04654FAAFC56}" type="pres">
      <dgm:prSet presAssocID="{9372CC6C-4BB4-4319-94D7-1706F19772AE}" presName="vert1" presStyleCnt="0"/>
      <dgm:spPr/>
    </dgm:pt>
    <dgm:pt modelId="{6D1C1216-5EB6-474B-B1C0-038AB7156B92}" type="pres">
      <dgm:prSet presAssocID="{8767190B-D297-4138-924C-5DE1E7291CAF}" presName="thickLine" presStyleLbl="alignNode1" presStyleIdx="4" presStyleCnt="6"/>
      <dgm:spPr/>
    </dgm:pt>
    <dgm:pt modelId="{29A41821-22DE-4439-8FF6-32B089C128FA}" type="pres">
      <dgm:prSet presAssocID="{8767190B-D297-4138-924C-5DE1E7291CAF}" presName="horz1" presStyleCnt="0"/>
      <dgm:spPr/>
    </dgm:pt>
    <dgm:pt modelId="{CC59CCEA-A7CD-49F7-8F45-A12A91B2E876}" type="pres">
      <dgm:prSet presAssocID="{8767190B-D297-4138-924C-5DE1E7291CAF}" presName="tx1" presStyleLbl="revTx" presStyleIdx="4" presStyleCnt="6"/>
      <dgm:spPr/>
    </dgm:pt>
    <dgm:pt modelId="{738737E5-2192-4C85-9839-E18D2F66B4A2}" type="pres">
      <dgm:prSet presAssocID="{8767190B-D297-4138-924C-5DE1E7291CAF}" presName="vert1" presStyleCnt="0"/>
      <dgm:spPr/>
    </dgm:pt>
    <dgm:pt modelId="{75808281-159B-4D42-B44C-08F74D467704}" type="pres">
      <dgm:prSet presAssocID="{3C7A666D-F2F7-4184-8CC3-DD92CEB1828B}" presName="thickLine" presStyleLbl="alignNode1" presStyleIdx="5" presStyleCnt="6"/>
      <dgm:spPr/>
    </dgm:pt>
    <dgm:pt modelId="{96A4BA55-B2F1-4E8B-87A8-1F20E4CFAC5A}" type="pres">
      <dgm:prSet presAssocID="{3C7A666D-F2F7-4184-8CC3-DD92CEB1828B}" presName="horz1" presStyleCnt="0"/>
      <dgm:spPr/>
    </dgm:pt>
    <dgm:pt modelId="{020DCDD9-9B85-4F2F-ACD0-9877CB8F36E8}" type="pres">
      <dgm:prSet presAssocID="{3C7A666D-F2F7-4184-8CC3-DD92CEB1828B}" presName="tx1" presStyleLbl="revTx" presStyleIdx="5" presStyleCnt="6"/>
      <dgm:spPr/>
    </dgm:pt>
    <dgm:pt modelId="{4BA1610D-0CA4-473B-839A-67F3609DC61F}" type="pres">
      <dgm:prSet presAssocID="{3C7A666D-F2F7-4184-8CC3-DD92CEB1828B}" presName="vert1" presStyleCnt="0"/>
      <dgm:spPr/>
    </dgm:pt>
  </dgm:ptLst>
  <dgm:cxnLst>
    <dgm:cxn modelId="{6A961D16-B287-4649-95A6-BA6244EB8862}" srcId="{4D9950BC-29C4-4698-935C-D154F136723C}" destId="{5653BAD9-C6A7-409C-A4E7-86B460261506}" srcOrd="1" destOrd="0" parTransId="{78E3AABB-B242-4905-8BFF-25F4C04546B4}" sibTransId="{ECAB37DA-5181-4D68-BAD1-F32154402585}"/>
    <dgm:cxn modelId="{81F8EE32-D6D0-4FA4-AC9B-C6773F13209F}" type="presOf" srcId="{C1D592B9-02CB-494E-8F5F-703CF0878437}" destId="{C7F630F3-EA0D-4435-8054-9541B3D355C9}" srcOrd="0" destOrd="0" presId="urn:microsoft.com/office/officeart/2008/layout/LinedList"/>
    <dgm:cxn modelId="{1A37C239-B49D-4539-864E-E58FBAD1002D}" type="presOf" srcId="{9372CC6C-4BB4-4319-94D7-1706F19772AE}" destId="{88C0D890-62CF-440A-B331-BA8D647BC83E}" srcOrd="0" destOrd="0" presId="urn:microsoft.com/office/officeart/2008/layout/LinedList"/>
    <dgm:cxn modelId="{31E0343D-5B67-4C23-8ACC-D17C75BF9E92}" srcId="{4D9950BC-29C4-4698-935C-D154F136723C}" destId="{9372CC6C-4BB4-4319-94D7-1706F19772AE}" srcOrd="3" destOrd="0" parTransId="{0342E0E6-6101-42D3-847D-46B3302521A6}" sibTransId="{254D77A4-D5E0-4056-B526-E245A2A3920D}"/>
    <dgm:cxn modelId="{7652C247-EF73-41FF-BD57-6B8E38BA2FA9}" srcId="{4D9950BC-29C4-4698-935C-D154F136723C}" destId="{3C7A666D-F2F7-4184-8CC3-DD92CEB1828B}" srcOrd="5" destOrd="0" parTransId="{4FEE5AAD-A564-440E-9B7E-06B42FEA4F0E}" sibTransId="{1F86F619-481E-4EAA-B8BE-E3238865B642}"/>
    <dgm:cxn modelId="{DDFCD753-D0EA-4764-A9E4-0384AA3EFE96}" srcId="{4D9950BC-29C4-4698-935C-D154F136723C}" destId="{B40F12FF-C604-45DD-9F4A-867EF6E7A701}" srcOrd="0" destOrd="0" parTransId="{DAC70B50-C834-4044-8DF3-7BC354E9097A}" sibTransId="{641E248F-5A11-4282-987F-E847B8399E61}"/>
    <dgm:cxn modelId="{E42A6B56-9E6E-4C70-AABA-46C419919228}" type="presOf" srcId="{5653BAD9-C6A7-409C-A4E7-86B460261506}" destId="{2048B345-CAB1-4199-B877-C38E4CD595CD}" srcOrd="0" destOrd="0" presId="urn:microsoft.com/office/officeart/2008/layout/LinedList"/>
    <dgm:cxn modelId="{FF7EB056-FB2B-4464-9C79-7A73567E6DF8}" type="presOf" srcId="{4D9950BC-29C4-4698-935C-D154F136723C}" destId="{E2B31A62-C302-47AA-B00A-5ED6E1C07478}" srcOrd="0" destOrd="0" presId="urn:microsoft.com/office/officeart/2008/layout/LinedList"/>
    <dgm:cxn modelId="{EB1890BD-3B1E-4A25-A7E3-1AABECDC488C}" type="presOf" srcId="{3C7A666D-F2F7-4184-8CC3-DD92CEB1828B}" destId="{020DCDD9-9B85-4F2F-ACD0-9877CB8F36E8}" srcOrd="0" destOrd="0" presId="urn:microsoft.com/office/officeart/2008/layout/LinedList"/>
    <dgm:cxn modelId="{E36A54EA-E1F3-4788-8ADD-6683DB40F138}" srcId="{4D9950BC-29C4-4698-935C-D154F136723C}" destId="{8767190B-D297-4138-924C-5DE1E7291CAF}" srcOrd="4" destOrd="0" parTransId="{B7FC5874-CA10-4692-BBCE-F59FC17A6799}" sibTransId="{8CE3EFBE-1DFC-4857-8B79-AFD6409C6BE2}"/>
    <dgm:cxn modelId="{5FFCA3F1-7A2C-4095-887B-B81F4276E086}" type="presOf" srcId="{8767190B-D297-4138-924C-5DE1E7291CAF}" destId="{CC59CCEA-A7CD-49F7-8F45-A12A91B2E876}" srcOrd="0" destOrd="0" presId="urn:microsoft.com/office/officeart/2008/layout/LinedList"/>
    <dgm:cxn modelId="{B6D7A0F4-AFFC-4DE8-9390-562473FA00FC}" srcId="{4D9950BC-29C4-4698-935C-D154F136723C}" destId="{C1D592B9-02CB-494E-8F5F-703CF0878437}" srcOrd="2" destOrd="0" parTransId="{B6715991-E33B-40FD-B206-6E843800AEDA}" sibTransId="{8B1C8F3B-AD28-4FC4-BB05-69D15B7613A5}"/>
    <dgm:cxn modelId="{5D4977FE-CE0D-4894-A7F2-37B91841BE7D}" type="presOf" srcId="{B40F12FF-C604-45DD-9F4A-867EF6E7A701}" destId="{EB72BB32-14B7-4395-BC8A-BB97C150C9B0}" srcOrd="0" destOrd="0" presId="urn:microsoft.com/office/officeart/2008/layout/LinedList"/>
    <dgm:cxn modelId="{5F013591-69A9-45BE-9836-F5736C328445}" type="presParOf" srcId="{E2B31A62-C302-47AA-B00A-5ED6E1C07478}" destId="{15AC5178-B47B-4153-A12A-67A4F1BA2624}" srcOrd="0" destOrd="0" presId="urn:microsoft.com/office/officeart/2008/layout/LinedList"/>
    <dgm:cxn modelId="{82CE64A0-BAF1-448D-939B-EBD413AB7C1D}" type="presParOf" srcId="{E2B31A62-C302-47AA-B00A-5ED6E1C07478}" destId="{6EF702DA-5C39-4A48-BE26-029EF0700667}" srcOrd="1" destOrd="0" presId="urn:microsoft.com/office/officeart/2008/layout/LinedList"/>
    <dgm:cxn modelId="{BCBD9643-608B-4821-80E9-61EF8A8F05CD}" type="presParOf" srcId="{6EF702DA-5C39-4A48-BE26-029EF0700667}" destId="{EB72BB32-14B7-4395-BC8A-BB97C150C9B0}" srcOrd="0" destOrd="0" presId="urn:microsoft.com/office/officeart/2008/layout/LinedList"/>
    <dgm:cxn modelId="{D558981F-58A5-4C50-9554-6875D019996F}" type="presParOf" srcId="{6EF702DA-5C39-4A48-BE26-029EF0700667}" destId="{CF03A588-6E01-47D6-866B-47CB3B64E9E1}" srcOrd="1" destOrd="0" presId="urn:microsoft.com/office/officeart/2008/layout/LinedList"/>
    <dgm:cxn modelId="{2187E646-1737-42EC-93EC-FDF85C1A091F}" type="presParOf" srcId="{E2B31A62-C302-47AA-B00A-5ED6E1C07478}" destId="{5068E69E-781A-4347-8AF8-7C0C3CF7C0CD}" srcOrd="2" destOrd="0" presId="urn:microsoft.com/office/officeart/2008/layout/LinedList"/>
    <dgm:cxn modelId="{E08680BC-836C-4C4C-A3A9-7A80BACF3C13}" type="presParOf" srcId="{E2B31A62-C302-47AA-B00A-5ED6E1C07478}" destId="{0133404E-4464-44E1-9359-FA2FA110999A}" srcOrd="3" destOrd="0" presId="urn:microsoft.com/office/officeart/2008/layout/LinedList"/>
    <dgm:cxn modelId="{CD62BDFB-71F2-4401-BC4E-E17D392D0344}" type="presParOf" srcId="{0133404E-4464-44E1-9359-FA2FA110999A}" destId="{2048B345-CAB1-4199-B877-C38E4CD595CD}" srcOrd="0" destOrd="0" presId="urn:microsoft.com/office/officeart/2008/layout/LinedList"/>
    <dgm:cxn modelId="{D30DC432-17D8-4DC2-AB08-873851026F53}" type="presParOf" srcId="{0133404E-4464-44E1-9359-FA2FA110999A}" destId="{760D078E-C83B-4AA0-AEB4-8D17A7401667}" srcOrd="1" destOrd="0" presId="urn:microsoft.com/office/officeart/2008/layout/LinedList"/>
    <dgm:cxn modelId="{F8DAE787-0F99-46B0-BD57-E936C310FD0E}" type="presParOf" srcId="{E2B31A62-C302-47AA-B00A-5ED6E1C07478}" destId="{6A184A3D-06FE-4B69-AE14-959F95AFC180}" srcOrd="4" destOrd="0" presId="urn:microsoft.com/office/officeart/2008/layout/LinedList"/>
    <dgm:cxn modelId="{8AA623BB-C0C2-4712-984A-AB25E4611946}" type="presParOf" srcId="{E2B31A62-C302-47AA-B00A-5ED6E1C07478}" destId="{3819BC57-811C-48FD-BE3C-325AEDAECAA4}" srcOrd="5" destOrd="0" presId="urn:microsoft.com/office/officeart/2008/layout/LinedList"/>
    <dgm:cxn modelId="{21E2AC33-3F8B-4FA9-B6C2-C221D4A4EEE1}" type="presParOf" srcId="{3819BC57-811C-48FD-BE3C-325AEDAECAA4}" destId="{C7F630F3-EA0D-4435-8054-9541B3D355C9}" srcOrd="0" destOrd="0" presId="urn:microsoft.com/office/officeart/2008/layout/LinedList"/>
    <dgm:cxn modelId="{0E0F36A0-F750-47DA-958F-C4ECBDF3FF1C}" type="presParOf" srcId="{3819BC57-811C-48FD-BE3C-325AEDAECAA4}" destId="{600FC066-3AB3-4251-95A8-0A2A4A9AB63C}" srcOrd="1" destOrd="0" presId="urn:microsoft.com/office/officeart/2008/layout/LinedList"/>
    <dgm:cxn modelId="{9548F004-7B6B-497E-8006-FE6D7BB01119}" type="presParOf" srcId="{E2B31A62-C302-47AA-B00A-5ED6E1C07478}" destId="{61D9590A-343E-44AD-931F-546A04EE1F78}" srcOrd="6" destOrd="0" presId="urn:microsoft.com/office/officeart/2008/layout/LinedList"/>
    <dgm:cxn modelId="{E6CC15C8-2F69-40EC-9ACA-8E7798DEDC1E}" type="presParOf" srcId="{E2B31A62-C302-47AA-B00A-5ED6E1C07478}" destId="{B89A8262-BE15-4C93-8E5C-B7082BEB0208}" srcOrd="7" destOrd="0" presId="urn:microsoft.com/office/officeart/2008/layout/LinedList"/>
    <dgm:cxn modelId="{F0978BF2-BEB7-4A88-A5E3-DD875A1C0D49}" type="presParOf" srcId="{B89A8262-BE15-4C93-8E5C-B7082BEB0208}" destId="{88C0D890-62CF-440A-B331-BA8D647BC83E}" srcOrd="0" destOrd="0" presId="urn:microsoft.com/office/officeart/2008/layout/LinedList"/>
    <dgm:cxn modelId="{983571B3-1D5A-4DDE-9334-C6220C183900}" type="presParOf" srcId="{B89A8262-BE15-4C93-8E5C-B7082BEB0208}" destId="{CCA431CF-5693-4EA8-BE47-04654FAAFC56}" srcOrd="1" destOrd="0" presId="urn:microsoft.com/office/officeart/2008/layout/LinedList"/>
    <dgm:cxn modelId="{1CC78133-FA4D-4C59-A5BC-B7759595E775}" type="presParOf" srcId="{E2B31A62-C302-47AA-B00A-5ED6E1C07478}" destId="{6D1C1216-5EB6-474B-B1C0-038AB7156B92}" srcOrd="8" destOrd="0" presId="urn:microsoft.com/office/officeart/2008/layout/LinedList"/>
    <dgm:cxn modelId="{96B322E3-AF11-400F-87DB-38AFBA2D23E6}" type="presParOf" srcId="{E2B31A62-C302-47AA-B00A-5ED6E1C07478}" destId="{29A41821-22DE-4439-8FF6-32B089C128FA}" srcOrd="9" destOrd="0" presId="urn:microsoft.com/office/officeart/2008/layout/LinedList"/>
    <dgm:cxn modelId="{277A3A92-233B-4044-9D33-843682561E57}" type="presParOf" srcId="{29A41821-22DE-4439-8FF6-32B089C128FA}" destId="{CC59CCEA-A7CD-49F7-8F45-A12A91B2E876}" srcOrd="0" destOrd="0" presId="urn:microsoft.com/office/officeart/2008/layout/LinedList"/>
    <dgm:cxn modelId="{0EABD0CD-4F05-47FA-A9E4-1B3965E0A673}" type="presParOf" srcId="{29A41821-22DE-4439-8FF6-32B089C128FA}" destId="{738737E5-2192-4C85-9839-E18D2F66B4A2}" srcOrd="1" destOrd="0" presId="urn:microsoft.com/office/officeart/2008/layout/LinedList"/>
    <dgm:cxn modelId="{4D5985C4-60AA-4BC7-89E1-EDF1907C88ED}" type="presParOf" srcId="{E2B31A62-C302-47AA-B00A-5ED6E1C07478}" destId="{75808281-159B-4D42-B44C-08F74D467704}" srcOrd="10" destOrd="0" presId="urn:microsoft.com/office/officeart/2008/layout/LinedList"/>
    <dgm:cxn modelId="{EC99ECC6-D7E8-4837-9EB2-12E2016DEF2D}" type="presParOf" srcId="{E2B31A62-C302-47AA-B00A-5ED6E1C07478}" destId="{96A4BA55-B2F1-4E8B-87A8-1F20E4CFAC5A}" srcOrd="11" destOrd="0" presId="urn:microsoft.com/office/officeart/2008/layout/LinedList"/>
    <dgm:cxn modelId="{7393E772-4C8A-499E-B0D5-61CB7CB1E99E}" type="presParOf" srcId="{96A4BA55-B2F1-4E8B-87A8-1F20E4CFAC5A}" destId="{020DCDD9-9B85-4F2F-ACD0-9877CB8F36E8}" srcOrd="0" destOrd="0" presId="urn:microsoft.com/office/officeart/2008/layout/LinedList"/>
    <dgm:cxn modelId="{B5C195A2-0CBC-46C9-AC54-874734F71151}" type="presParOf" srcId="{96A4BA55-B2F1-4E8B-87A8-1F20E4CFAC5A}" destId="{4BA1610D-0CA4-473B-839A-67F3609DC6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C5178-B47B-4153-A12A-67A4F1BA2624}">
      <dsp:nvSpPr>
        <dsp:cNvPr id="0" name=""/>
        <dsp:cNvSpPr/>
      </dsp:nvSpPr>
      <dsp:spPr>
        <a:xfrm>
          <a:off x="0" y="3110"/>
          <a:ext cx="6670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2BB32-14B7-4395-BC8A-BB97C150C9B0}">
      <dsp:nvSpPr>
        <dsp:cNvPr id="0" name=""/>
        <dsp:cNvSpPr/>
      </dsp:nvSpPr>
      <dsp:spPr>
        <a:xfrm>
          <a:off x="0" y="3110"/>
          <a:ext cx="6670623" cy="106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b="1" kern="1200" dirty="0">
              <a:solidFill>
                <a:srgbClr val="FF0000"/>
              </a:solidFill>
            </a:rPr>
            <a:t>Investigar y analizar</a:t>
          </a:r>
          <a:endParaRPr lang="en-US" sz="3600" kern="1200" dirty="0">
            <a:solidFill>
              <a:srgbClr val="FF0000"/>
            </a:solidFill>
          </a:endParaRPr>
        </a:p>
      </dsp:txBody>
      <dsp:txXfrm>
        <a:off x="0" y="3110"/>
        <a:ext cx="6670623" cy="1060792"/>
      </dsp:txXfrm>
    </dsp:sp>
    <dsp:sp modelId="{5068E69E-781A-4347-8AF8-7C0C3CF7C0CD}">
      <dsp:nvSpPr>
        <dsp:cNvPr id="0" name=""/>
        <dsp:cNvSpPr/>
      </dsp:nvSpPr>
      <dsp:spPr>
        <a:xfrm>
          <a:off x="0" y="1063903"/>
          <a:ext cx="6670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8B345-CAB1-4199-B877-C38E4CD595CD}">
      <dsp:nvSpPr>
        <dsp:cNvPr id="0" name=""/>
        <dsp:cNvSpPr/>
      </dsp:nvSpPr>
      <dsp:spPr>
        <a:xfrm>
          <a:off x="0" y="1063903"/>
          <a:ext cx="6670623" cy="106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Identifica problemas en el sistema actual.</a:t>
          </a:r>
          <a:endParaRPr lang="en-US" sz="2900" kern="1200"/>
        </a:p>
      </dsp:txBody>
      <dsp:txXfrm>
        <a:off x="0" y="1063903"/>
        <a:ext cx="6670623" cy="1060792"/>
      </dsp:txXfrm>
    </dsp:sp>
    <dsp:sp modelId="{6A184A3D-06FE-4B69-AE14-959F95AFC180}">
      <dsp:nvSpPr>
        <dsp:cNvPr id="0" name=""/>
        <dsp:cNvSpPr/>
      </dsp:nvSpPr>
      <dsp:spPr>
        <a:xfrm>
          <a:off x="0" y="2124695"/>
          <a:ext cx="6670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630F3-EA0D-4435-8054-9541B3D355C9}">
      <dsp:nvSpPr>
        <dsp:cNvPr id="0" name=""/>
        <dsp:cNvSpPr/>
      </dsp:nvSpPr>
      <dsp:spPr>
        <a:xfrm>
          <a:off x="0" y="2124695"/>
          <a:ext cx="6670623" cy="106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Recopila información mediante entrevistas, encuestas y observación.</a:t>
          </a:r>
          <a:endParaRPr lang="en-US" sz="2900" kern="1200"/>
        </a:p>
      </dsp:txBody>
      <dsp:txXfrm>
        <a:off x="0" y="2124695"/>
        <a:ext cx="6670623" cy="1060792"/>
      </dsp:txXfrm>
    </dsp:sp>
    <dsp:sp modelId="{61D9590A-343E-44AD-931F-546A04EE1F78}">
      <dsp:nvSpPr>
        <dsp:cNvPr id="0" name=""/>
        <dsp:cNvSpPr/>
      </dsp:nvSpPr>
      <dsp:spPr>
        <a:xfrm>
          <a:off x="0" y="3185487"/>
          <a:ext cx="6670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0D890-62CF-440A-B331-BA8D647BC83E}">
      <dsp:nvSpPr>
        <dsp:cNvPr id="0" name=""/>
        <dsp:cNvSpPr/>
      </dsp:nvSpPr>
      <dsp:spPr>
        <a:xfrm>
          <a:off x="0" y="3185487"/>
          <a:ext cx="6670623" cy="106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Define los requisitos del sistema.</a:t>
          </a:r>
          <a:endParaRPr lang="en-US" sz="2900" kern="1200"/>
        </a:p>
      </dsp:txBody>
      <dsp:txXfrm>
        <a:off x="0" y="3185487"/>
        <a:ext cx="6670623" cy="1060792"/>
      </dsp:txXfrm>
    </dsp:sp>
    <dsp:sp modelId="{6D1C1216-5EB6-474B-B1C0-038AB7156B92}">
      <dsp:nvSpPr>
        <dsp:cNvPr id="0" name=""/>
        <dsp:cNvSpPr/>
      </dsp:nvSpPr>
      <dsp:spPr>
        <a:xfrm>
          <a:off x="0" y="4246279"/>
          <a:ext cx="6670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9CCEA-A7CD-49F7-8F45-A12A91B2E876}">
      <dsp:nvSpPr>
        <dsp:cNvPr id="0" name=""/>
        <dsp:cNvSpPr/>
      </dsp:nvSpPr>
      <dsp:spPr>
        <a:xfrm>
          <a:off x="0" y="4246279"/>
          <a:ext cx="6670623" cy="106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Evalúa la viabilidad del proyecto (técnica y económica). </a:t>
          </a:r>
          <a:endParaRPr lang="en-US" sz="2900" kern="1200"/>
        </a:p>
      </dsp:txBody>
      <dsp:txXfrm>
        <a:off x="0" y="4246279"/>
        <a:ext cx="6670623" cy="1060792"/>
      </dsp:txXfrm>
    </dsp:sp>
    <dsp:sp modelId="{75808281-159B-4D42-B44C-08F74D467704}">
      <dsp:nvSpPr>
        <dsp:cNvPr id="0" name=""/>
        <dsp:cNvSpPr/>
      </dsp:nvSpPr>
      <dsp:spPr>
        <a:xfrm>
          <a:off x="0" y="5307071"/>
          <a:ext cx="6670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DCDD9-9B85-4F2F-ACD0-9877CB8F36E8}">
      <dsp:nvSpPr>
        <dsp:cNvPr id="0" name=""/>
        <dsp:cNvSpPr/>
      </dsp:nvSpPr>
      <dsp:spPr>
        <a:xfrm>
          <a:off x="0" y="5307071"/>
          <a:ext cx="6670623" cy="106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Se asegura de entender </a:t>
          </a:r>
          <a:r>
            <a:rPr lang="es-ES" sz="29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qué necesita el usuario</a:t>
          </a:r>
          <a:r>
            <a:rPr lang="es-ES" sz="2900" kern="1200" dirty="0">
              <a:solidFill>
                <a:schemeClr val="tx1">
                  <a:lumMod val="75000"/>
                  <a:lumOff val="25000"/>
                </a:schemeClr>
              </a:solidFill>
            </a:rPr>
            <a:t>.</a:t>
          </a:r>
          <a:endParaRPr lang="en-US" sz="29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0" y="5307071"/>
        <a:ext cx="6670623" cy="1060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97196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01577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54242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378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7388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72034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754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9309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6854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8296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2319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3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piqsels.com/es/search?q=web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cambioesahora.com/2014/02/aprende-argumentar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novaciondocentetecsup.blogspot.com/2017/08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proximopaso.org/profile/summary/15-1251.00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mujer-que-trabaja-en-la-computadora-portatil-con-documentos-5940721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82652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es/objetos/computer/disenador-ordenador-portatil-teclado-de-computadora-oficina-negocio-trabajo-internet-tecnologia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n en blanco y negro de la luna&#10;&#10;El contenido generado por IA puede ser incorrecto.">
            <a:extLst>
              <a:ext uri="{FF2B5EF4-FFF2-40B4-BE49-F238E27FC236}">
                <a16:creationId xmlns:a16="http://schemas.microsoft.com/office/drawing/2014/main" id="{F7BA5F1A-DCB2-4C7D-102B-47AD5B16A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31" b="35319"/>
          <a:stretch>
            <a:fillRect/>
          </a:stretch>
        </p:blipFill>
        <p:spPr>
          <a:xfrm>
            <a:off x="21" y="-119912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D19661F-4B4C-74C1-7FC3-31FB14D4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6955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D16AFD-A750-F5EE-B22C-6C8049A5E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487" y="1124711"/>
            <a:ext cx="9462991" cy="2697773"/>
          </a:xfrm>
        </p:spPr>
        <p:txBody>
          <a:bodyPr anchor="b">
            <a:normAutofit/>
          </a:bodyPr>
          <a:lstStyle/>
          <a:p>
            <a:r>
              <a:rPr lang="es-ES" sz="5400" dirty="0"/>
              <a:t>Rol que desempeña el Analista del Diseño de Sistemas</a:t>
            </a:r>
            <a:endParaRPr lang="es-SV" sz="5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E701D1-A34F-CF86-7316-8761C7835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987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C07DF6-ACBC-1E7B-9B0F-C38AFF71F69A}"/>
              </a:ext>
            </a:extLst>
          </p:cNvPr>
          <p:cNvSpPr txBox="1"/>
          <p:nvPr/>
        </p:nvSpPr>
        <p:spPr>
          <a:xfrm>
            <a:off x="411480" y="987552"/>
            <a:ext cx="4485861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900" b="1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¿Quién es el analista de diseño de sistemas?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FC814A-9A1E-FD67-2FDD-DDAC8EFAB02E}"/>
              </a:ext>
            </a:extLst>
          </p:cNvPr>
          <p:cNvSpPr txBox="1"/>
          <p:nvPr/>
        </p:nvSpPr>
        <p:spPr>
          <a:xfrm>
            <a:off x="411479" y="2478992"/>
            <a:ext cx="4498848" cy="37937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El analista del diseño de sistemas es el profesional encargado de estudiar, planificar y estructurar un sistema informático para que funcione correctamente y cumpla con las necesidades del usuario o la empresa.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Es el puente entre los usuarios y los programadores</a:t>
            </a:r>
          </a:p>
        </p:txBody>
      </p:sp>
      <p:pic>
        <p:nvPicPr>
          <p:cNvPr id="8" name="Imagen 7" descr="Un hombre con un celular en la mano de una persona con una computadora&#10;&#10;El contenido generado por IA puede ser incorrecto.">
            <a:extLst>
              <a:ext uri="{FF2B5EF4-FFF2-40B4-BE49-F238E27FC236}">
                <a16:creationId xmlns:a16="http://schemas.microsoft.com/office/drawing/2014/main" id="{D6B55522-6CAE-42F4-E4A1-F3CC9A3BE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8" r="-1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97223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27744B-47AB-4459-8C2F-1D5EE63A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72E99C-8260-AFA2-A837-A933760E2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79" b="-1"/>
          <a:stretch>
            <a:fillRect/>
          </a:stretch>
        </p:blipFill>
        <p:spPr>
          <a:xfrm>
            <a:off x="1" y="10"/>
            <a:ext cx="6865165" cy="6857990"/>
          </a:xfrm>
          <a:custGeom>
            <a:avLst/>
            <a:gdLst/>
            <a:ahLst/>
            <a:cxnLst/>
            <a:rect l="l" t="t" r="r" b="b"/>
            <a:pathLst>
              <a:path w="6865165" h="6858000">
                <a:moveTo>
                  <a:pt x="0" y="0"/>
                </a:moveTo>
                <a:lnTo>
                  <a:pt x="6865165" y="0"/>
                </a:lnTo>
                <a:lnTo>
                  <a:pt x="6859621" y="22952"/>
                </a:lnTo>
                <a:cubicBezTo>
                  <a:pt x="6623056" y="1069835"/>
                  <a:pt x="6492240" y="2220824"/>
                  <a:pt x="6492240" y="3429001"/>
                </a:cubicBezTo>
                <a:cubicBezTo>
                  <a:pt x="6492240" y="4637179"/>
                  <a:pt x="6623056" y="5788167"/>
                  <a:pt x="6859621" y="6835050"/>
                </a:cubicBezTo>
                <a:lnTo>
                  <a:pt x="686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7D266DCC-5218-4AE0-B964-6FC2EA3BD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240" y="0"/>
            <a:ext cx="5699760" cy="6858000"/>
          </a:xfrm>
          <a:custGeom>
            <a:avLst/>
            <a:gdLst>
              <a:gd name="connsiteX0" fmla="*/ 365648 w 5588548"/>
              <a:gd name="connsiteY0" fmla="*/ 0 h 6858000"/>
              <a:gd name="connsiteX1" fmla="*/ 5588548 w 5588548"/>
              <a:gd name="connsiteY1" fmla="*/ 0 h 6858000"/>
              <a:gd name="connsiteX2" fmla="*/ 5588548 w 5588548"/>
              <a:gd name="connsiteY2" fmla="*/ 6858000 h 6858000"/>
              <a:gd name="connsiteX3" fmla="*/ 365648 w 5588548"/>
              <a:gd name="connsiteY3" fmla="*/ 6858000 h 6858000"/>
              <a:gd name="connsiteX4" fmla="*/ 360213 w 5588548"/>
              <a:gd name="connsiteY4" fmla="*/ 6835050 h 6858000"/>
              <a:gd name="connsiteX5" fmla="*/ 0 w 5588548"/>
              <a:gd name="connsiteY5" fmla="*/ 3429001 h 6858000"/>
              <a:gd name="connsiteX6" fmla="*/ 360213 w 5588548"/>
              <a:gd name="connsiteY6" fmla="*/ 229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8548" h="6858000">
                <a:moveTo>
                  <a:pt x="365648" y="0"/>
                </a:moveTo>
                <a:lnTo>
                  <a:pt x="5588548" y="0"/>
                </a:lnTo>
                <a:lnTo>
                  <a:pt x="55885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973DE4F1-1583-4AE3-9696-9659D27C5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384" y="0"/>
            <a:ext cx="5690616" cy="6858000"/>
          </a:xfrm>
          <a:custGeom>
            <a:avLst/>
            <a:gdLst>
              <a:gd name="connsiteX0" fmla="*/ 372925 w 5690616"/>
              <a:gd name="connsiteY0" fmla="*/ 0 h 6858000"/>
              <a:gd name="connsiteX1" fmla="*/ 5690616 w 5690616"/>
              <a:gd name="connsiteY1" fmla="*/ 0 h 6858000"/>
              <a:gd name="connsiteX2" fmla="*/ 5690616 w 5690616"/>
              <a:gd name="connsiteY2" fmla="*/ 6858000 h 6858000"/>
              <a:gd name="connsiteX3" fmla="*/ 372925 w 5690616"/>
              <a:gd name="connsiteY3" fmla="*/ 6858000 h 6858000"/>
              <a:gd name="connsiteX4" fmla="*/ 367381 w 5690616"/>
              <a:gd name="connsiteY4" fmla="*/ 6835050 h 6858000"/>
              <a:gd name="connsiteX5" fmla="*/ 0 w 5690616"/>
              <a:gd name="connsiteY5" fmla="*/ 3429001 h 6858000"/>
              <a:gd name="connsiteX6" fmla="*/ 367381 w 5690616"/>
              <a:gd name="connsiteY6" fmla="*/ 229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0616" h="6858000">
                <a:moveTo>
                  <a:pt x="372925" y="0"/>
                </a:moveTo>
                <a:lnTo>
                  <a:pt x="5690616" y="0"/>
                </a:lnTo>
                <a:lnTo>
                  <a:pt x="5690616" y="6858000"/>
                </a:lnTo>
                <a:lnTo>
                  <a:pt x="372925" y="6858000"/>
                </a:lnTo>
                <a:lnTo>
                  <a:pt x="367381" y="6835050"/>
                </a:lnTo>
                <a:cubicBezTo>
                  <a:pt x="130816" y="5788167"/>
                  <a:pt x="0" y="4637179"/>
                  <a:pt x="0" y="3429001"/>
                </a:cubicBezTo>
                <a:cubicBezTo>
                  <a:pt x="0" y="2220824"/>
                  <a:pt x="130816" y="1069835"/>
                  <a:pt x="367381" y="22952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3C8959-A2A1-469E-8619-82F077E3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4495" y="218239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37334C-AE83-E713-6EDF-77C9A4A9BD11}"/>
              </a:ext>
            </a:extLst>
          </p:cNvPr>
          <p:cNvSpPr txBox="1"/>
          <p:nvPr/>
        </p:nvSpPr>
        <p:spPr>
          <a:xfrm>
            <a:off x="7119089" y="1324518"/>
            <a:ext cx="4918013" cy="54060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4"/>
                </a:solidFill>
              </a:rPr>
              <a:t>Rol que desempeña</a:t>
            </a:r>
            <a:endParaRPr lang="en-US" sz="3200" b="1" dirty="0">
              <a:solidFill>
                <a:schemeClr val="accent4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3200" b="1" dirty="0">
              <a:solidFill>
                <a:schemeClr val="accent4"/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El analista cumple un papel estratégico y técnico dentro del desarrollo del sistema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3480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81E2DD5E-9925-BFCB-7387-8262B20AE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74964" y="2036241"/>
            <a:ext cx="3048000" cy="3048000"/>
          </a:xfrm>
          <a:prstGeom prst="rect">
            <a:avLst/>
          </a:prstGeom>
        </p:spPr>
      </p:pic>
      <p:graphicFrame>
        <p:nvGraphicFramePr>
          <p:cNvPr id="7" name="CuadroTexto 2">
            <a:extLst>
              <a:ext uri="{FF2B5EF4-FFF2-40B4-BE49-F238E27FC236}">
                <a16:creationId xmlns:a16="http://schemas.microsoft.com/office/drawing/2014/main" id="{54E4CA86-7664-5FEC-661B-17C792F559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112340"/>
              </p:ext>
            </p:extLst>
          </p:nvPr>
        </p:nvGraphicFramePr>
        <p:xfrm>
          <a:off x="584616" y="374754"/>
          <a:ext cx="6670623" cy="6370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068419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15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DED18A3-EF27-E838-5E0F-F70D62410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742" r="2" b="2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41" name="Freeform: Shape 17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19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21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EDF2B9-3E1E-FD53-4FBB-F802882794AA}"/>
              </a:ext>
            </a:extLst>
          </p:cNvPr>
          <p:cNvSpPr txBox="1"/>
          <p:nvPr/>
        </p:nvSpPr>
        <p:spPr>
          <a:xfrm>
            <a:off x="374904" y="464694"/>
            <a:ext cx="5065776" cy="6595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</a:rPr>
              <a:t>Investigar y analizar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Identifica problemas en el sistema actual.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Recopila información mediante entrevistas, encuestas y observación.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Define los requisitos del sistema.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Evalúa la viabilidad del proyecto (técnica y económica)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 Se asegura de entender </a:t>
            </a:r>
            <a:r>
              <a:rPr lang="en-US" sz="2400" b="1" dirty="0"/>
              <a:t>qué necesita el usuario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949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hombre, competencia de atletismo&#10;&#10;El contenido generado por IA puede ser incorrecto.">
            <a:extLst>
              <a:ext uri="{FF2B5EF4-FFF2-40B4-BE49-F238E27FC236}">
                <a16:creationId xmlns:a16="http://schemas.microsoft.com/office/drawing/2014/main" id="{16B1D2C3-74B1-5574-661B-EB0C28EEC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317" r="18323"/>
          <a:stretch>
            <a:fillRect/>
          </a:stretch>
        </p:blipFill>
        <p:spPr>
          <a:xfrm>
            <a:off x="3894580" y="10"/>
            <a:ext cx="8668512" cy="685799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8D669D-FFD2-ABCD-7C4C-B9A192B1CDE1}"/>
              </a:ext>
            </a:extLst>
          </p:cNvPr>
          <p:cNvSpPr txBox="1"/>
          <p:nvPr/>
        </p:nvSpPr>
        <p:spPr>
          <a:xfrm>
            <a:off x="371094" y="1289154"/>
            <a:ext cx="5724906" cy="46361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0" b="1" dirty="0">
                <a:solidFill>
                  <a:srgbClr val="FF0000"/>
                </a:solidFill>
              </a:rPr>
              <a:t>Diseñar la solución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Elabora modelos y diagramas.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Diseña la estructura del sistema.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Planifica la base de datos.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Define cómo será la interfaz del usuario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Establece normas de seguridad.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600" dirty="0"/>
              <a:t> Planifica </a:t>
            </a:r>
            <a:r>
              <a:rPr lang="en-US" sz="9600" b="1" dirty="0"/>
              <a:t>cómo funcionará el sistema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8608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33EFF4-BEB3-9404-8999-D9E80BBB3B52}"/>
              </a:ext>
            </a:extLst>
          </p:cNvPr>
          <p:cNvSpPr txBox="1"/>
          <p:nvPr/>
        </p:nvSpPr>
        <p:spPr>
          <a:xfrm>
            <a:off x="371094" y="976392"/>
            <a:ext cx="4789842" cy="60315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900" b="1" dirty="0">
                <a:solidFill>
                  <a:srgbClr val="FF0000"/>
                </a:solidFill>
              </a:rPr>
              <a:t>Coordinar el Desarrollo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3200" b="1" dirty="0">
              <a:solidFill>
                <a:srgbClr val="FF0000"/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Trabaja con programadores.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Supervisa que el sistema cumpla los requisitos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 dirty="0"/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Detecta errores antes de la implementación.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Propone mejoras.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Garantiza calidad y eficiencia</a:t>
            </a:r>
          </a:p>
        </p:txBody>
      </p:sp>
      <p:pic>
        <p:nvPicPr>
          <p:cNvPr id="5" name="Imagen 4" descr="Una mano muestra un teclado de computadora&#10;&#10;El contenido generado por IA puede ser incorrecto.">
            <a:extLst>
              <a:ext uri="{FF2B5EF4-FFF2-40B4-BE49-F238E27FC236}">
                <a16:creationId xmlns:a16="http://schemas.microsoft.com/office/drawing/2014/main" id="{BA294AEA-BBE1-E339-B9EF-FB77BBCAD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04014" y="1224366"/>
            <a:ext cx="6419177" cy="458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5629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413669B-4AA8-E441-49F2-1D6DF8E22123}"/>
              </a:ext>
            </a:extLst>
          </p:cNvPr>
          <p:cNvSpPr txBox="1"/>
          <p:nvPr/>
        </p:nvSpPr>
        <p:spPr>
          <a:xfrm>
            <a:off x="254833" y="584616"/>
            <a:ext cx="703496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solidFill>
                  <a:srgbClr val="FF0000"/>
                </a:solidFill>
              </a:rPr>
              <a:t>Importancia del Analista</a:t>
            </a:r>
          </a:p>
          <a:p>
            <a:pPr>
              <a:buNone/>
            </a:pPr>
            <a:endParaRPr lang="es-E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Reduce riesgos y errores.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Ahorra tiempo y costos.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Mejora la calidad del software.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Asegura que el sistema cumpla los objetivos.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None/>
            </a:pPr>
            <a:r>
              <a:rPr lang="es-ES" sz="2800" dirty="0"/>
              <a:t>Sin el analista, el sistema podría no responder a las necesidades reales</a:t>
            </a:r>
            <a:r>
              <a:rPr lang="es-ES" sz="3200" dirty="0"/>
              <a:t>.</a:t>
            </a:r>
          </a:p>
        </p:txBody>
      </p:sp>
      <p:pic>
        <p:nvPicPr>
          <p:cNvPr id="8" name="Imagen 7" descr="Imagen que contiene computadora, tabla&#10;&#10;El contenido generado por IA puede ser incorrecto.">
            <a:extLst>
              <a:ext uri="{FF2B5EF4-FFF2-40B4-BE49-F238E27FC236}">
                <a16:creationId xmlns:a16="http://schemas.microsoft.com/office/drawing/2014/main" id="{E6E1D3CC-E79E-BA27-01B6-E630E0039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89800" y="584616"/>
            <a:ext cx="4749800" cy="467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73334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22C006E-E428-8D27-45AA-1D329B17E58E}"/>
              </a:ext>
            </a:extLst>
          </p:cNvPr>
          <p:cNvSpPr txBox="1"/>
          <p:nvPr/>
        </p:nvSpPr>
        <p:spPr>
          <a:xfrm>
            <a:off x="177800" y="698500"/>
            <a:ext cx="5359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>
                <a:solidFill>
                  <a:srgbClr val="FF0000"/>
                </a:solidFill>
              </a:rPr>
              <a:t>Ejemplo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dirty="0"/>
              <a:t>Si una escuela necesita un sistema para registrar notas:</a:t>
            </a:r>
          </a:p>
          <a:p>
            <a:pPr>
              <a:buNone/>
            </a:pPr>
            <a:endParaRPr lang="es-E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El analista entrevista a docentes.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Define qué datos se registrarán.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Diseña la estructura del sistema.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Entrega el plan a los programadores.</a:t>
            </a:r>
          </a:p>
        </p:txBody>
      </p:sp>
      <p:pic>
        <p:nvPicPr>
          <p:cNvPr id="5" name="Imagen 4" descr="Imagen de la pantalla de un ordenador portátil sobre una mesa de madera&#10;&#10;El contenido generado por IA puede ser incorrecto.">
            <a:extLst>
              <a:ext uri="{FF2B5EF4-FFF2-40B4-BE49-F238E27FC236}">
                <a16:creationId xmlns:a16="http://schemas.microsoft.com/office/drawing/2014/main" id="{58449AF0-4BFA-AAB8-DBFE-B7E084110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89600" y="1001920"/>
            <a:ext cx="6502400" cy="507831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72347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1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1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3829CE-8506-4A6F-80AA-48D198D949B5}"/>
              </a:ext>
            </a:extLst>
          </p:cNvPr>
          <p:cNvSpPr txBox="1"/>
          <p:nvPr/>
        </p:nvSpPr>
        <p:spPr>
          <a:xfrm>
            <a:off x="411480" y="1579957"/>
            <a:ext cx="4443154" cy="45970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FF0000"/>
                </a:solidFill>
              </a:rPr>
              <a:t>Conclusión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El analista del diseño de sistemas desempeña un rol fundamental porque planifica y organiza el sistema antes de su construcción, asegurando que sea eficiente, seguro y funcional.</a:t>
            </a:r>
          </a:p>
        </p:txBody>
      </p:sp>
      <p:pic>
        <p:nvPicPr>
          <p:cNvPr id="5" name="Imagen 4" descr="Mano de una persona con una laptop&#10;&#10;El contenido generado por IA puede ser incorrecto.">
            <a:extLst>
              <a:ext uri="{FF2B5EF4-FFF2-40B4-BE49-F238E27FC236}">
                <a16:creationId xmlns:a16="http://schemas.microsoft.com/office/drawing/2014/main" id="{A0F6AEBB-1308-2B50-BC18-7AC32EAF8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85816" y="1251831"/>
            <a:ext cx="6440424" cy="42989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809321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345</Words>
  <Application>Microsoft Office PowerPoint</Application>
  <PresentationFormat>Panorámica</PresentationFormat>
  <Paragraphs>73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Calibri</vt:lpstr>
      <vt:lpstr>Neue Haas Grotesk Text Pro</vt:lpstr>
      <vt:lpstr>AccentBoxVTI</vt:lpstr>
      <vt:lpstr>Rol que desempeña el Analista del Diseño de Sistemas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Yansi Hernandez</dc:creator>
  <cp:lastModifiedBy>eduardo garcia</cp:lastModifiedBy>
  <cp:revision>3</cp:revision>
  <dcterms:created xsi:type="dcterms:W3CDTF">2026-02-22T17:24:18Z</dcterms:created>
  <dcterms:modified xsi:type="dcterms:W3CDTF">2026-02-24T20:27:55Z</dcterms:modified>
</cp:coreProperties>
</file>